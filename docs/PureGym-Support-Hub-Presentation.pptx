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9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1999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Master" Target="slideMasters/slideMaster1.xml"/><Relationship Id="rId1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-field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lue-field"/>
          <p:cNvSpPr/>
          <p:nvPr/>
        </p:nvSpPr>
        <p:spPr>
          <a:xfrm>
            <a:off x="6766560" y="0"/>
            <a:ext cx="5440680" cy="68580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658368" y="1005840"/>
            <a:ext cx="6766560" cy="1325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4600" b="1">
                <a:solidFill>
                  <a:srgbClr val="FFFFFF"/>
                </a:solidFill>
                <a:latin typeface="Arial"/>
              </a:rPr>
              <a:t>PureGym Support Hub</a:t>
            </a:r>
            <a:endParaRPr lang="en-US" sz="4600"/>
          </a:p>
        </p:txBody>
      </p:sp>
      <p:sp>
        <p:nvSpPr>
          <p:cNvPr id="5" name="subtitle"/>
          <p:cNvSpPr txBox="1"/>
          <p:nvPr/>
        </p:nvSpPr>
        <p:spPr>
          <a:xfrm>
            <a:off x="694944" y="2487168"/>
            <a:ext cx="6400800" cy="78638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>
                <a:solidFill>
                  <a:srgbClr val="FFFFFF"/>
                </a:solidFill>
                <a:latin typeface="Arial"/>
              </a:rPr>
              <a:t>Internal support workspace for KSA and UAE agents</a:t>
            </a:r>
            <a:endParaRPr lang="en-US" sz="2200"/>
          </a:p>
        </p:txBody>
      </p:sp>
      <p:sp>
        <p:nvSpPr>
          <p:cNvPr id="6" name="date"/>
          <p:cNvSpPr txBox="1"/>
          <p:nvPr/>
        </p:nvSpPr>
        <p:spPr>
          <a:xfrm>
            <a:off x="713232" y="5376672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200">
                <a:solidFill>
                  <a:srgbClr val="FFFFFF"/>
                </a:solidFill>
                <a:latin typeface="Arial"/>
              </a:rPr>
              <a:t>Updated July 4, 2026</a:t>
            </a:r>
            <a:endParaRPr lang="en-US" sz="1200"/>
          </a:p>
        </p:txBody>
      </p:sp>
      <p:sp>
        <p:nvSpPr>
          <p:cNvPr id="7" name="made-by"/>
          <p:cNvSpPr txBox="1"/>
          <p:nvPr/>
        </p:nvSpPr>
        <p:spPr>
          <a:xfrm>
            <a:off x="713232" y="5705856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</a:rPr>
              <a:t>Made by Mohammed Alkhandagji</a:t>
            </a:r>
            <a:endParaRPr lang="en-US" sz="1200"/>
          </a:p>
        </p:txBody>
      </p:sp>
      <p:sp>
        <p:nvSpPr>
          <p:cNvPr id="8" name="right-copy"/>
          <p:cNvSpPr txBox="1"/>
          <p:nvPr/>
        </p:nvSpPr>
        <p:spPr>
          <a:xfrm>
            <a:off x="7333488" y="1243584"/>
            <a:ext cx="3977639" cy="20116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Arial"/>
              </a:rPr>
              <a:t>One console for approved scripts, quick replies, admin control, AI help, and operational checks.</a:t>
            </a:r>
            <a:endParaRPr lang="en-US" sz="2600"/>
          </a:p>
        </p:txBody>
      </p:sp>
      <p:sp>
        <p:nvSpPr>
          <p:cNvPr id="9" name="right-small"/>
          <p:cNvSpPr txBox="1"/>
          <p:nvPr/>
        </p:nvSpPr>
        <p:spPr>
          <a:xfrm>
            <a:off x="7360920" y="4224528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800">
                <a:solidFill>
                  <a:srgbClr val="FFFFFF"/>
                </a:solidFill>
                <a:latin typeface="Arial"/>
              </a:rPr>
              <a:t>Built for faster, cleaner support conversations.</a:t>
            </a:r>
            <a:endParaRPr lang="en-US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The hub removes daily support friction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Agents should not jump between scattered notes, admin changes, and AI tools during a live conversation.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Approved scripts are centralized and searchable.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Country and language context stays visible.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Favorites and most-used scripts reduce repeated searching.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 changes live in Neon, not old project files.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2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Audience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KSA and UAE support agents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Goal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Faster accurate responses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Data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Neon-backed live content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The latest batch makes scripts faster to reach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Ctrl+K and variable prompts turn the script library into a keyboard-first tool.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Ctrl+K opens the in-app command palette when the page has focus.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Copying a script can prompt for date, duration, amount, membership type, or member name.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same copy pipeline applies name, gender, country heart, variables, and usage tracking.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Most-used scripts are tracked per agent locally.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3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Shortcut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Ctrl+K command palette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Fill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Dates and script variables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Copy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Ready-to-send output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AI now runs on a low-cost provider by default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app is no longer locked to OpenAI billing.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Groq is the default provider using llama-3.1-8b-instant.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Gemini can be enabled with GEMINI_API_KEY and AI_PROVIDER=gemini.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OpenAI stays available only as an intentional fallback.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The AI health route now reports provider, model, database status, and configuration readiness.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4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Default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Groq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Alternative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Gemini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Fallback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OpenAI only if selected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Admin governance protects shared content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model separates daily usage from global content control.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Super Admin owns role changes and user removal.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Admin and Super Admin can manage scripts and quick scripts.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Deactivation hides scripts or categories globally without deleting the record.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Account requests can be approved with generated passwords.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5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Super Admin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User authority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Admin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Content authority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User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Daily operation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QA now has a repeatable smoke path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project has a simple command for catching broken routes before deployment.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npm run build verifies Prisma, Next.js, type checking, and static generation.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npm run smoke verifies page rendering and anonymous API protection.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Authenticated smoke can run with SMOKE_EMAIL and SMOKE_PASSWORD.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Quick-script authenticated checks are gated to avoid unintended database writes.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6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Build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Production compile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Smoke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Route protection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Safe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No DB writes by default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The cost profile stays small for 25 users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Support agents are app users, not infrastructure seats.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Vercel Hobby can run light use; Pro is safer for production ownership.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Neon Free may be enough for small data; Launch is the practical growth step.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Groq token pricing keeps moderate AI usage in a low monthly range.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Gemini API free usage is another option when rate limits fit the workflow.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7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Light use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$0-$10/mo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Safer setup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$35-$45/mo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5EB8"/>
                </a:solidFill>
                <a:latin typeface="Arial"/>
              </a:rPr>
              <a:t>OpenAI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Not required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accent-green"/>
          <p:cNvSpPr/>
          <p:nvPr/>
        </p:nvSpPr>
        <p:spPr>
          <a:xfrm>
            <a:off x="0" y="0"/>
            <a:ext cx="6583680" cy="14630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-accent-blue"/>
          <p:cNvSpPr/>
          <p:nvPr/>
        </p:nvSpPr>
        <p:spPr>
          <a:xfrm>
            <a:off x="6583680" y="0"/>
            <a:ext cx="5669280" cy="14630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30352" y="329184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1">
                <a:solidFill>
                  <a:srgbClr val="4B5563"/>
                </a:solidFill>
                <a:latin typeface="Arial"/>
              </a:rPr>
              <a:t>PUREGYM SUPPORT HUB</a:t>
            </a:r>
            <a:endParaRPr lang="en-US" sz="1000"/>
          </a:p>
        </p:txBody>
      </p:sp>
      <p:sp>
        <p:nvSpPr>
          <p:cNvPr id="5" name="title"/>
          <p:cNvSpPr txBox="1"/>
          <p:nvPr/>
        </p:nvSpPr>
        <p:spPr>
          <a:xfrm>
            <a:off x="530352" y="786384"/>
            <a:ext cx="75895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500" b="1">
                <a:solidFill>
                  <a:srgbClr val="111827"/>
                </a:solidFill>
                <a:latin typeface="Arial"/>
              </a:rPr>
              <a:t>The next development track is operational maturity</a:t>
            </a:r>
            <a:endParaRPr lang="en-US" sz="3500"/>
          </a:p>
        </p:txBody>
      </p:sp>
      <p:sp>
        <p:nvSpPr>
          <p:cNvPr id="6" name="subtitle"/>
          <p:cNvSpPr txBox="1"/>
          <p:nvPr/>
        </p:nvSpPr>
        <p:spPr>
          <a:xfrm>
            <a:off x="548640" y="1737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>
                <a:solidFill>
                  <a:srgbClr val="4B5563"/>
                </a:solidFill>
                <a:latin typeface="Arial"/>
              </a:rPr>
              <a:t>The roadmap focuses on reliability and agent speed, not extra manual admin work.</a:t>
            </a:r>
            <a:endParaRPr lang="en-US" sz="1700"/>
          </a:p>
        </p:txBody>
      </p:sp>
      <p:sp>
        <p:nvSpPr>
          <p:cNvPr id="7" name="bullets"/>
          <p:cNvSpPr txBox="1"/>
          <p:nvPr/>
        </p:nvSpPr>
        <p:spPr>
          <a:xfrm>
            <a:off x="713232" y="2514600"/>
            <a:ext cx="5577840" cy="3474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Browser extension connected to the hub can replace TextBlaze-style local snippets.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Health checks monitor AI configuration, cron setup, and offer-sync freshness.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Legacy UserQuickScript cleanup runs only after Neon audit confirms no unique user data is needed.</a:t>
            </a:r>
            <a:endParaRPr lang="en-US" sz="1700"/>
          </a:p>
          <a:p>
            <a:pPr marL="228600" indent="-171450"/>
            <a:r>
              <a:rPr lang="en-US" sz="1700">
                <a:solidFill>
                  <a:srgbClr val="111827"/>
                </a:solidFill>
                <a:latin typeface="Arial"/>
              </a:rPr>
              <a:t>- Documentation should keep matching the deployed behavior after each batch.</a:t>
            </a:r>
            <a:endParaRPr lang="en-US" sz="1700"/>
          </a:p>
        </p:txBody>
      </p:sp>
      <p:sp>
        <p:nvSpPr>
          <p:cNvPr id="8" name="side-panel"/>
          <p:cNvSpPr/>
          <p:nvPr/>
        </p:nvSpPr>
        <p:spPr>
          <a:xfrm>
            <a:off x="6629400" y="2423160"/>
            <a:ext cx="4983480" cy="3246120"/>
          </a:xfrm>
          <a:prstGeom prst="rect">
            <a:avLst/>
          </a:prstGeom>
          <a:solidFill>
            <a:srgbClr val="F3F6F8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9" name="slide-number"/>
          <p:cNvSpPr txBox="1"/>
          <p:nvPr/>
        </p:nvSpPr>
        <p:spPr>
          <a:xfrm>
            <a:off x="11173968" y="636422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8</a:t>
            </a:r>
            <a:endParaRPr lang="en-US" sz="900"/>
          </a:p>
        </p:txBody>
      </p:sp>
      <p:sp>
        <p:nvSpPr>
          <p:cNvPr id="10" name="made-by"/>
          <p:cNvSpPr txBox="1"/>
          <p:nvPr/>
        </p:nvSpPr>
        <p:spPr>
          <a:xfrm>
            <a:off x="530352" y="632764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900">
                <a:solidFill>
                  <a:srgbClr val="4B5563"/>
                </a:solidFill>
                <a:latin typeface="Arial"/>
              </a:rPr>
              <a:t>Made by Mohammed Alkhandagji</a:t>
            </a:r>
            <a:endParaRPr lang="en-US" sz="900"/>
          </a:p>
        </p:txBody>
      </p:sp>
      <p:sp>
        <p:nvSpPr>
          <p:cNvPr id="11" name="card-11"/>
          <p:cNvSpPr/>
          <p:nvPr/>
        </p:nvSpPr>
        <p:spPr>
          <a:xfrm>
            <a:off x="6931152" y="265176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2" name="card-title-11"/>
          <p:cNvSpPr txBox="1"/>
          <p:nvPr/>
        </p:nvSpPr>
        <p:spPr>
          <a:xfrm>
            <a:off x="7114032" y="277977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Extension</a:t>
            </a:r>
            <a:endParaRPr lang="en-US" sz="1300"/>
          </a:p>
        </p:txBody>
      </p:sp>
      <p:sp>
        <p:nvSpPr>
          <p:cNvPr id="13" name="card-body-11"/>
          <p:cNvSpPr txBox="1"/>
          <p:nvPr/>
        </p:nvSpPr>
        <p:spPr>
          <a:xfrm>
            <a:off x="7114032" y="303580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Central shortcuts</a:t>
            </a:r>
            <a:endParaRPr lang="en-US" sz="1100"/>
          </a:p>
        </p:txBody>
      </p:sp>
      <p:sp>
        <p:nvSpPr>
          <p:cNvPr id="14" name="card-14"/>
          <p:cNvSpPr/>
          <p:nvPr/>
        </p:nvSpPr>
        <p:spPr>
          <a:xfrm>
            <a:off x="6931152" y="361188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5" name="card-title-14"/>
          <p:cNvSpPr txBox="1"/>
          <p:nvPr/>
        </p:nvSpPr>
        <p:spPr>
          <a:xfrm>
            <a:off x="7114032" y="373989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Monitoring</a:t>
            </a:r>
            <a:endParaRPr lang="en-US" sz="1300"/>
          </a:p>
        </p:txBody>
      </p:sp>
      <p:sp>
        <p:nvSpPr>
          <p:cNvPr id="16" name="card-body-14"/>
          <p:cNvSpPr txBox="1"/>
          <p:nvPr/>
        </p:nvSpPr>
        <p:spPr>
          <a:xfrm>
            <a:off x="7114032" y="399592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AI, cron, offers</a:t>
            </a:r>
            <a:endParaRPr lang="en-US" sz="1100"/>
          </a:p>
        </p:txBody>
      </p:sp>
      <p:sp>
        <p:nvSpPr>
          <p:cNvPr id="17" name="card-17"/>
          <p:cNvSpPr/>
          <p:nvPr/>
        </p:nvSpPr>
        <p:spPr>
          <a:xfrm>
            <a:off x="6931152" y="4572000"/>
            <a:ext cx="437083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/>
          <a:lstStyle/>
          <a:p/>
        </p:txBody>
      </p:sp>
      <p:sp>
        <p:nvSpPr>
          <p:cNvPr id="18" name="card-title-17"/>
          <p:cNvSpPr txBox="1"/>
          <p:nvPr/>
        </p:nvSpPr>
        <p:spPr>
          <a:xfrm>
            <a:off x="7114032" y="4700016"/>
            <a:ext cx="3977639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A651"/>
                </a:solidFill>
                <a:latin typeface="Arial"/>
              </a:rPr>
              <a:t>Cleanup</a:t>
            </a:r>
            <a:endParaRPr lang="en-US" sz="1300"/>
          </a:p>
        </p:txBody>
      </p:sp>
      <p:sp>
        <p:nvSpPr>
          <p:cNvPr id="19" name="card-body-17"/>
          <p:cNvSpPr txBox="1"/>
          <p:nvPr/>
        </p:nvSpPr>
        <p:spPr>
          <a:xfrm>
            <a:off x="7114032" y="4956048"/>
            <a:ext cx="3977639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100">
                <a:solidFill>
                  <a:srgbClr val="4B5563"/>
                </a:solidFill>
                <a:latin typeface="Arial"/>
              </a:rPr>
              <a:t>Audit before delete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eGym Support Hub">
  <a:themeElements>
    <a:clrScheme name="PureGym">
      <a:dk1>
        <a:srgbClr val="111827"/>
      </a:dk1>
      <a:lt1>
        <a:srgbClr val="FFFFFF"/>
      </a:lt1>
      <a:dk2>
        <a:srgbClr val="005EB8"/>
      </a:dk2>
      <a:lt2>
        <a:srgbClr val="F3F6F8"/>
      </a:lt2>
      <a:accent1>
        <a:srgbClr val="00A651"/>
      </a:accent1>
      <a:accent2>
        <a:srgbClr val="005EB8"/>
      </a:accent2>
      <a:accent3>
        <a:srgbClr val="4B5563"/>
      </a:accent3>
      <a:accent4>
        <a:srgbClr val="D7DEE8"/>
      </a:accent4>
      <a:accent5>
        <a:srgbClr val="111827"/>
      </a:accent5>
      <a:accent6>
        <a:srgbClr val="F3F6F8"/>
      </a:accent6>
      <a:hlink>
        <a:srgbClr val="005EB8"/>
      </a:hlink>
      <a:folHlink>
        <a:srgbClr val="00A651"/>
      </a:folHlink>
    </a:clrScheme>
    <a:fontScheme name="Arial">
      <a:majorFont>
        <a:latin typeface="Arial"/>
      </a:majorFont>
      <a:minorFont>
        <a:latin typeface="Arial"/>
      </a:minorFont>
    </a:fontScheme>
    <a:fmtScheme name="PureGym">
      <a:fillStyleLst>
        <a:solidFill>
          <a:srgbClr val="FFFFFF"/>
        </a:solidFill>
      </a:fillStyleLst>
      <a:lnStyleLst>
        <a:ln w="9525">
          <a:solidFill>
            <a:srgbClr val="D7DEE8"/>
          </a:solidFill>
        </a:ln>
      </a:lnStyleLst>
      <a:effectStyleLst>
        <a:effectStyle>
          <a:effectLst/>
        </a:effectStyle>
      </a:effectStyleLst>
      <a:bgFillStyleLst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PureGym Support Hub</Application>
  <PresentationFormat>On-screen Show (16:9)</PresentationFormat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PureGym Support Hub Presentation</dc:title>
  <dc:creator>Mohammed Alkhandagji</dc:creator>
  <cp:lastModifiedBy>Codex</cp:lastModifiedBy>
  <dcterms:created xsi:type="dcterms:W3CDTF">2026-07-04T02:57:27Z</dcterms:created>
  <dcterms:modified xsi:type="dcterms:W3CDTF">2026-07-04T02:57:27Z</dcterms:modified>
</cp:coreProperties>
</file>